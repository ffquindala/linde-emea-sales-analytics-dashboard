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slideLayouts/slideLayout17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64" r:id="rId2"/>
    <p:sldMasterId id="2147483666" r:id="rId3"/>
  </p:sldMasterIdLst>
  <p:notesMasterIdLst>
    <p:notesMasterId r:id="rId5"/>
  </p:notesMasterIdLst>
  <p:sldIdLst>
    <p:sldId id="265" r:id="rId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472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6" roundtripDataSignature="AMtx7mjkTQkaK1lOGtJVSppC7tUHKukcu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2C6FF77-6748-47BD-ADA1-8FF433447ADD}">
  <a:tblStyle styleId="{B2C6FF77-6748-47BD-ADA1-8FF433447ADD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7ECF4"/>
          </a:solidFill>
        </a:fill>
      </a:tcStyle>
    </a:wholeTbl>
    <a:band1H>
      <a:tcTxStyle/>
      <a:tcStyle>
        <a:tcBdr/>
        <a:fill>
          <a:solidFill>
            <a:srgbClr val="CCD8E8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CD8E8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2137" autoAdjust="0"/>
  </p:normalViewPr>
  <p:slideViewPr>
    <p:cSldViewPr snapToGrid="0">
      <p:cViewPr varScale="1">
        <p:scale>
          <a:sx n="82" d="100"/>
          <a:sy n="82" d="100"/>
        </p:scale>
        <p:origin x="1674" y="78"/>
      </p:cViewPr>
      <p:guideLst>
        <p:guide orient="horz" pos="2472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Master" Target="slideMasters/slideMaster3.xml"/><Relationship Id="rId59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58" Type="http://schemas.openxmlformats.org/officeDocument/2006/relationships/viewProps" Target="viewProps.xml"/><Relationship Id="rId5" Type="http://schemas.openxmlformats.org/officeDocument/2006/relationships/notesMaster" Target="notesMasters/notesMaster1.xml"/><Relationship Id="rId57" Type="http://schemas.openxmlformats.org/officeDocument/2006/relationships/presProps" Target="presProps.xml"/><Relationship Id="rId60" Type="http://schemas.openxmlformats.org/officeDocument/2006/relationships/tableStyles" Target="tableStyles.xml"/><Relationship Id="rId4" Type="http://schemas.openxmlformats.org/officeDocument/2006/relationships/slide" Target="slides/slide1.xml"/><Relationship Id="rId56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>
          <a:extLst>
            <a:ext uri="{FF2B5EF4-FFF2-40B4-BE49-F238E27FC236}">
              <a16:creationId xmlns:a16="http://schemas.microsoft.com/office/drawing/2014/main" id="{0102F97B-55B5-9D72-AEDC-5BFAD7DB89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9:notes">
            <a:extLst>
              <a:ext uri="{FF2B5EF4-FFF2-40B4-BE49-F238E27FC236}">
                <a16:creationId xmlns:a16="http://schemas.microsoft.com/office/drawing/2014/main" id="{93FD0D06-0C5D-409B-15F3-6F941991164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b="1" dirty="0"/>
              <a:t>First, revenue and the number of active customers have declined since 2019.</a:t>
            </a:r>
            <a:endParaRPr lang="en-US" dirty="0"/>
          </a:p>
          <a:p>
            <a:r>
              <a:rPr lang="en-US" b="1" dirty="0"/>
              <a:t>Second, sales are concentrated in a few customer segments, products, and key accounts.</a:t>
            </a: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1" name="Google Shape;211;p9:notes">
            <a:extLst>
              <a:ext uri="{FF2B5EF4-FFF2-40B4-BE49-F238E27FC236}">
                <a16:creationId xmlns:a16="http://schemas.microsoft.com/office/drawing/2014/main" id="{2171C6D6-7D45-6520-DF5B-66DBF80D123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792554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ontents slide layout">
  <p:cSld name="1_Contents slide layout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47"/>
          <p:cNvSpPr/>
          <p:nvPr/>
        </p:nvSpPr>
        <p:spPr>
          <a:xfrm>
            <a:off x="0" y="-1"/>
            <a:ext cx="12192000" cy="914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47"/>
          <p:cNvSpPr txBox="1">
            <a:spLocks noGrp="1"/>
          </p:cNvSpPr>
          <p:nvPr>
            <p:ph type="body" idx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None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47"/>
          <p:cNvSpPr/>
          <p:nvPr/>
        </p:nvSpPr>
        <p:spPr>
          <a:xfrm>
            <a:off x="0" y="6792686"/>
            <a:ext cx="12192000" cy="653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Style slide layout">
  <p:cSld name="1_Style slide layou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Style slide layout">
  <p:cSld name="2_Style slide layou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Style slide layout">
  <p:cSld name="3_Style slide layou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Style slide layout">
  <p:cSld name="4_Style slide layou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Contents slide layout">
  <p:cSld name="3_Contents slide layout">
    <p:bg>
      <p:bgPr>
        <a:solidFill>
          <a:schemeClr val="accent1"/>
        </a:solidFill>
        <a:effectLst/>
      </p:bgPr>
    </p:bg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Contents slide layout">
  <p:cSld name="2_Contents slide layou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3"/>
          <p:cNvSpPr/>
          <p:nvPr/>
        </p:nvSpPr>
        <p:spPr>
          <a:xfrm>
            <a:off x="0" y="-1"/>
            <a:ext cx="12192000" cy="65314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53"/>
          <p:cNvSpPr/>
          <p:nvPr/>
        </p:nvSpPr>
        <p:spPr>
          <a:xfrm>
            <a:off x="722811" y="291737"/>
            <a:ext cx="10519955" cy="77201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53"/>
          <p:cNvSpPr txBox="1">
            <a:spLocks noGrp="1"/>
          </p:cNvSpPr>
          <p:nvPr>
            <p:ph type="body" idx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  <a:defRPr sz="5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" name="Google Shape;23;p53"/>
          <p:cNvSpPr/>
          <p:nvPr/>
        </p:nvSpPr>
        <p:spPr>
          <a:xfrm>
            <a:off x="0" y="6792686"/>
            <a:ext cx="12192000" cy="653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slide layout">
  <p:cSld name="Image slide layout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Image slide layout">
  <p:cSld name="1_Image slide layou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Contents slide layout">
  <p:cSld name="4_Contents slide layout">
    <p:bg>
      <p:bgPr>
        <a:solidFill>
          <a:schemeClr val="accent1"/>
        </a:solidFill>
        <a:effectLst/>
      </p:bgPr>
    </p:bg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6"/>
          <p:cNvSpPr txBox="1">
            <a:spLocks noGrp="1"/>
          </p:cNvSpPr>
          <p:nvPr>
            <p:ph type="body" idx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  <a:defRPr sz="5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" name="Google Shape;28;p56"/>
          <p:cNvSpPr/>
          <p:nvPr/>
        </p:nvSpPr>
        <p:spPr>
          <a:xfrm>
            <a:off x="8608025" y="1457403"/>
            <a:ext cx="2915574" cy="1570864"/>
          </a:xfrm>
          <a:custGeom>
            <a:avLst/>
            <a:gdLst/>
            <a:ahLst/>
            <a:cxnLst/>
            <a:rect l="l" t="t" r="r" b="b"/>
            <a:pathLst>
              <a:path w="2031627" h="1094607" extrusionOk="0">
                <a:moveTo>
                  <a:pt x="759126" y="175"/>
                </a:moveTo>
                <a:cubicBezTo>
                  <a:pt x="1025636" y="-5883"/>
                  <a:pt x="1164300" y="146830"/>
                  <a:pt x="1202563" y="233386"/>
                </a:cubicBezTo>
                <a:cubicBezTo>
                  <a:pt x="1282888" y="192395"/>
                  <a:pt x="1410516" y="166317"/>
                  <a:pt x="1517075" y="223857"/>
                </a:cubicBezTo>
                <a:cubicBezTo>
                  <a:pt x="1603843" y="265350"/>
                  <a:pt x="1655398" y="364274"/>
                  <a:pt x="1636027" y="467173"/>
                </a:cubicBezTo>
                <a:cubicBezTo>
                  <a:pt x="1818665" y="436910"/>
                  <a:pt x="1962089" y="552744"/>
                  <a:pt x="1993043" y="605752"/>
                </a:cubicBezTo>
                <a:cubicBezTo>
                  <a:pt x="2033585" y="679331"/>
                  <a:pt x="2059020" y="824827"/>
                  <a:pt x="1981034" y="927342"/>
                </a:cubicBezTo>
                <a:cubicBezTo>
                  <a:pt x="1895034" y="1028063"/>
                  <a:pt x="1787166" y="1085614"/>
                  <a:pt x="1635570" y="1094607"/>
                </a:cubicBezTo>
                <a:lnTo>
                  <a:pt x="417697" y="1091009"/>
                </a:lnTo>
                <a:cubicBezTo>
                  <a:pt x="190851" y="1097978"/>
                  <a:pt x="45994" y="1027462"/>
                  <a:pt x="4450" y="817631"/>
                </a:cubicBezTo>
                <a:cubicBezTo>
                  <a:pt x="-12314" y="719312"/>
                  <a:pt x="4831" y="512100"/>
                  <a:pt x="298401" y="448930"/>
                </a:cubicBezTo>
                <a:cubicBezTo>
                  <a:pt x="297213" y="309047"/>
                  <a:pt x="387539" y="53920"/>
                  <a:pt x="704111" y="3572"/>
                </a:cubicBezTo>
                <a:cubicBezTo>
                  <a:pt x="723022" y="1690"/>
                  <a:pt x="741358" y="579"/>
                  <a:pt x="759126" y="175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56"/>
          <p:cNvSpPr/>
          <p:nvPr/>
        </p:nvSpPr>
        <p:spPr>
          <a:xfrm flipH="1">
            <a:off x="681574" y="2390853"/>
            <a:ext cx="2915574" cy="1570864"/>
          </a:xfrm>
          <a:custGeom>
            <a:avLst/>
            <a:gdLst/>
            <a:ahLst/>
            <a:cxnLst/>
            <a:rect l="l" t="t" r="r" b="b"/>
            <a:pathLst>
              <a:path w="2031627" h="1094607" extrusionOk="0">
                <a:moveTo>
                  <a:pt x="759126" y="175"/>
                </a:moveTo>
                <a:cubicBezTo>
                  <a:pt x="1025636" y="-5883"/>
                  <a:pt x="1164300" y="146830"/>
                  <a:pt x="1202563" y="233386"/>
                </a:cubicBezTo>
                <a:cubicBezTo>
                  <a:pt x="1282888" y="192395"/>
                  <a:pt x="1410516" y="166317"/>
                  <a:pt x="1517075" y="223857"/>
                </a:cubicBezTo>
                <a:cubicBezTo>
                  <a:pt x="1603843" y="265350"/>
                  <a:pt x="1655398" y="364274"/>
                  <a:pt x="1636027" y="467173"/>
                </a:cubicBezTo>
                <a:cubicBezTo>
                  <a:pt x="1818665" y="436910"/>
                  <a:pt x="1962089" y="552744"/>
                  <a:pt x="1993043" y="605752"/>
                </a:cubicBezTo>
                <a:cubicBezTo>
                  <a:pt x="2033585" y="679331"/>
                  <a:pt x="2059020" y="824827"/>
                  <a:pt x="1981034" y="927342"/>
                </a:cubicBezTo>
                <a:cubicBezTo>
                  <a:pt x="1895034" y="1028063"/>
                  <a:pt x="1787166" y="1085614"/>
                  <a:pt x="1635570" y="1094607"/>
                </a:cubicBezTo>
                <a:lnTo>
                  <a:pt x="417697" y="1091009"/>
                </a:lnTo>
                <a:cubicBezTo>
                  <a:pt x="190851" y="1097978"/>
                  <a:pt x="45994" y="1027462"/>
                  <a:pt x="4450" y="817631"/>
                </a:cubicBezTo>
                <a:cubicBezTo>
                  <a:pt x="-12314" y="719312"/>
                  <a:pt x="4831" y="512100"/>
                  <a:pt x="298401" y="448930"/>
                </a:cubicBezTo>
                <a:cubicBezTo>
                  <a:pt x="297213" y="309047"/>
                  <a:pt x="387539" y="53920"/>
                  <a:pt x="704111" y="3572"/>
                </a:cubicBezTo>
                <a:cubicBezTo>
                  <a:pt x="723022" y="1690"/>
                  <a:pt x="741358" y="579"/>
                  <a:pt x="759126" y="175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56"/>
          <p:cNvSpPr>
            <a:spLocks noGrp="1"/>
          </p:cNvSpPr>
          <p:nvPr>
            <p:ph type="pic" idx="2"/>
          </p:nvPr>
        </p:nvSpPr>
        <p:spPr>
          <a:xfrm>
            <a:off x="1811890" y="2529655"/>
            <a:ext cx="1293260" cy="129326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31" name="Google Shape;31;p56"/>
          <p:cNvSpPr>
            <a:spLocks noGrp="1"/>
          </p:cNvSpPr>
          <p:nvPr>
            <p:ph type="pic" idx="3"/>
          </p:nvPr>
        </p:nvSpPr>
        <p:spPr>
          <a:xfrm>
            <a:off x="9117565" y="1596205"/>
            <a:ext cx="1293260" cy="129326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32" name="Google Shape;32;p56"/>
          <p:cNvSpPr/>
          <p:nvPr/>
        </p:nvSpPr>
        <p:spPr>
          <a:xfrm>
            <a:off x="4705886" y="4314903"/>
            <a:ext cx="2915574" cy="1570864"/>
          </a:xfrm>
          <a:custGeom>
            <a:avLst/>
            <a:gdLst/>
            <a:ahLst/>
            <a:cxnLst/>
            <a:rect l="l" t="t" r="r" b="b"/>
            <a:pathLst>
              <a:path w="2031627" h="1094607" extrusionOk="0">
                <a:moveTo>
                  <a:pt x="759126" y="175"/>
                </a:moveTo>
                <a:cubicBezTo>
                  <a:pt x="1025636" y="-5883"/>
                  <a:pt x="1164300" y="146830"/>
                  <a:pt x="1202563" y="233386"/>
                </a:cubicBezTo>
                <a:cubicBezTo>
                  <a:pt x="1282888" y="192395"/>
                  <a:pt x="1410516" y="166317"/>
                  <a:pt x="1517075" y="223857"/>
                </a:cubicBezTo>
                <a:cubicBezTo>
                  <a:pt x="1603843" y="265350"/>
                  <a:pt x="1655398" y="364274"/>
                  <a:pt x="1636027" y="467173"/>
                </a:cubicBezTo>
                <a:cubicBezTo>
                  <a:pt x="1818665" y="436910"/>
                  <a:pt x="1962089" y="552744"/>
                  <a:pt x="1993043" y="605752"/>
                </a:cubicBezTo>
                <a:cubicBezTo>
                  <a:pt x="2033585" y="679331"/>
                  <a:pt x="2059020" y="824827"/>
                  <a:pt x="1981034" y="927342"/>
                </a:cubicBezTo>
                <a:cubicBezTo>
                  <a:pt x="1895034" y="1028063"/>
                  <a:pt x="1787166" y="1085614"/>
                  <a:pt x="1635570" y="1094607"/>
                </a:cubicBezTo>
                <a:lnTo>
                  <a:pt x="417697" y="1091009"/>
                </a:lnTo>
                <a:cubicBezTo>
                  <a:pt x="190851" y="1097978"/>
                  <a:pt x="45994" y="1027462"/>
                  <a:pt x="4450" y="817631"/>
                </a:cubicBezTo>
                <a:cubicBezTo>
                  <a:pt x="-12314" y="719312"/>
                  <a:pt x="4831" y="512100"/>
                  <a:pt x="298401" y="448930"/>
                </a:cubicBezTo>
                <a:cubicBezTo>
                  <a:pt x="297213" y="309047"/>
                  <a:pt x="387539" y="53920"/>
                  <a:pt x="704111" y="3572"/>
                </a:cubicBezTo>
                <a:cubicBezTo>
                  <a:pt x="723022" y="1690"/>
                  <a:pt x="741358" y="579"/>
                  <a:pt x="759126" y="175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56"/>
          <p:cNvSpPr>
            <a:spLocks noGrp="1"/>
          </p:cNvSpPr>
          <p:nvPr>
            <p:ph type="pic" idx="4"/>
          </p:nvPr>
        </p:nvSpPr>
        <p:spPr>
          <a:xfrm>
            <a:off x="5202790" y="4453705"/>
            <a:ext cx="1293260" cy="1293260"/>
          </a:xfrm>
          <a:prstGeom prst="ellipse">
            <a:avLst/>
          </a:prstGeom>
          <a:solidFill>
            <a:srgbClr val="D8D8D8"/>
          </a:solidFill>
          <a:ln>
            <a:noFill/>
          </a:ln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Image slide layout">
  <p:cSld name="2_Image slide layou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57"/>
          <p:cNvSpPr>
            <a:spLocks noGrp="1"/>
          </p:cNvSpPr>
          <p:nvPr>
            <p:ph type="pic" idx="2"/>
          </p:nvPr>
        </p:nvSpPr>
        <p:spPr>
          <a:xfrm>
            <a:off x="1875633" y="1819076"/>
            <a:ext cx="9593277" cy="2645996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36" name="Google Shape;36;p57"/>
          <p:cNvSpPr/>
          <p:nvPr/>
        </p:nvSpPr>
        <p:spPr>
          <a:xfrm>
            <a:off x="-1" y="1819076"/>
            <a:ext cx="1875635" cy="2389975"/>
          </a:xfrm>
          <a:prstGeom prst="rect">
            <a:avLst/>
          </a:prstGeom>
          <a:solidFill>
            <a:schemeClr val="accent1">
              <a:alpha val="69803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57"/>
          <p:cNvSpPr>
            <a:spLocks noGrp="1"/>
          </p:cNvSpPr>
          <p:nvPr>
            <p:ph type="pic" idx="3"/>
          </p:nvPr>
        </p:nvSpPr>
        <p:spPr>
          <a:xfrm>
            <a:off x="9615413" y="4396978"/>
            <a:ext cx="1853497" cy="167044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38" name="Google Shape;38;p57"/>
          <p:cNvSpPr>
            <a:spLocks noGrp="1"/>
          </p:cNvSpPr>
          <p:nvPr>
            <p:ph type="pic" idx="4"/>
          </p:nvPr>
        </p:nvSpPr>
        <p:spPr>
          <a:xfrm>
            <a:off x="7570712" y="4396978"/>
            <a:ext cx="1853497" cy="167044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39" name="Google Shape;39;p57"/>
          <p:cNvSpPr txBox="1">
            <a:spLocks noGrp="1"/>
          </p:cNvSpPr>
          <p:nvPr>
            <p:ph type="body" idx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62626"/>
              </a:buClr>
              <a:buSzPts val="5400"/>
              <a:buFont typeface="Arial"/>
              <a:buNone/>
              <a:defRPr sz="5400" b="0" i="0" u="none" strike="noStrike" cap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Image slide layout">
  <p:cSld name="3_Image slide layou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58"/>
          <p:cNvSpPr>
            <a:spLocks noGrp="1"/>
          </p:cNvSpPr>
          <p:nvPr>
            <p:ph type="pic" idx="2"/>
          </p:nvPr>
        </p:nvSpPr>
        <p:spPr>
          <a:xfrm>
            <a:off x="733463" y="1792600"/>
            <a:ext cx="1800000" cy="1008000"/>
          </a:xfrm>
          <a:prstGeom prst="roundRect">
            <a:avLst>
              <a:gd name="adj" fmla="val 7223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42" name="Google Shape;42;p58"/>
          <p:cNvSpPr>
            <a:spLocks noGrp="1"/>
          </p:cNvSpPr>
          <p:nvPr>
            <p:ph type="pic" idx="3"/>
          </p:nvPr>
        </p:nvSpPr>
        <p:spPr>
          <a:xfrm>
            <a:off x="733463" y="2878386"/>
            <a:ext cx="1800000" cy="1008000"/>
          </a:xfrm>
          <a:prstGeom prst="roundRect">
            <a:avLst>
              <a:gd name="adj" fmla="val 7223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43" name="Google Shape;43;p58"/>
          <p:cNvSpPr>
            <a:spLocks noGrp="1"/>
          </p:cNvSpPr>
          <p:nvPr>
            <p:ph type="pic" idx="4"/>
          </p:nvPr>
        </p:nvSpPr>
        <p:spPr>
          <a:xfrm>
            <a:off x="733463" y="3964172"/>
            <a:ext cx="1800000" cy="1008000"/>
          </a:xfrm>
          <a:prstGeom prst="roundRect">
            <a:avLst>
              <a:gd name="adj" fmla="val 7223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44" name="Google Shape;44;p58"/>
          <p:cNvSpPr>
            <a:spLocks noGrp="1"/>
          </p:cNvSpPr>
          <p:nvPr>
            <p:ph type="pic" idx="5"/>
          </p:nvPr>
        </p:nvSpPr>
        <p:spPr>
          <a:xfrm>
            <a:off x="733463" y="5049957"/>
            <a:ext cx="1800000" cy="1008000"/>
          </a:xfrm>
          <a:prstGeom prst="roundRect">
            <a:avLst>
              <a:gd name="adj" fmla="val 7223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45" name="Google Shape;45;p58"/>
          <p:cNvSpPr txBox="1">
            <a:spLocks noGrp="1"/>
          </p:cNvSpPr>
          <p:nvPr>
            <p:ph type="body" idx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62626"/>
              </a:buClr>
              <a:buSzPts val="5400"/>
              <a:buFont typeface="Arial"/>
              <a:buNone/>
              <a:defRPr sz="5400" b="0" i="0" u="none" strike="noStrike" cap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Image slide layout">
  <p:cSld name="4_Image slide layou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59"/>
          <p:cNvSpPr/>
          <p:nvPr/>
        </p:nvSpPr>
        <p:spPr>
          <a:xfrm>
            <a:off x="9315811" y="3209360"/>
            <a:ext cx="2160000" cy="1440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59"/>
          <p:cNvSpPr>
            <a:spLocks noGrp="1"/>
          </p:cNvSpPr>
          <p:nvPr>
            <p:ph type="pic" idx="2"/>
          </p:nvPr>
        </p:nvSpPr>
        <p:spPr>
          <a:xfrm>
            <a:off x="9315811" y="1773034"/>
            <a:ext cx="2160000" cy="1440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49" name="Google Shape;49;p59"/>
          <p:cNvSpPr/>
          <p:nvPr/>
        </p:nvSpPr>
        <p:spPr>
          <a:xfrm>
            <a:off x="7155811" y="4645814"/>
            <a:ext cx="2160000" cy="1440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59"/>
          <p:cNvSpPr>
            <a:spLocks noGrp="1"/>
          </p:cNvSpPr>
          <p:nvPr>
            <p:ph type="pic" idx="3"/>
          </p:nvPr>
        </p:nvSpPr>
        <p:spPr>
          <a:xfrm>
            <a:off x="9315811" y="4645814"/>
            <a:ext cx="2160000" cy="1440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51" name="Google Shape;51;p59"/>
          <p:cNvSpPr>
            <a:spLocks noGrp="1"/>
          </p:cNvSpPr>
          <p:nvPr>
            <p:ph type="pic" idx="4"/>
          </p:nvPr>
        </p:nvSpPr>
        <p:spPr>
          <a:xfrm>
            <a:off x="7155596" y="3209360"/>
            <a:ext cx="2160000" cy="1440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52" name="Google Shape;52;p59"/>
          <p:cNvSpPr/>
          <p:nvPr/>
        </p:nvSpPr>
        <p:spPr>
          <a:xfrm>
            <a:off x="7155811" y="1773034"/>
            <a:ext cx="2160000" cy="1440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59"/>
          <p:cNvSpPr/>
          <p:nvPr/>
        </p:nvSpPr>
        <p:spPr>
          <a:xfrm>
            <a:off x="4995381" y="3209360"/>
            <a:ext cx="2160000" cy="144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59"/>
          <p:cNvSpPr>
            <a:spLocks noGrp="1"/>
          </p:cNvSpPr>
          <p:nvPr>
            <p:ph type="pic" idx="5"/>
          </p:nvPr>
        </p:nvSpPr>
        <p:spPr>
          <a:xfrm>
            <a:off x="4994903" y="4645814"/>
            <a:ext cx="2160000" cy="1440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55" name="Google Shape;55;p59"/>
          <p:cNvSpPr>
            <a:spLocks noGrp="1"/>
          </p:cNvSpPr>
          <p:nvPr>
            <p:ph type="pic" idx="6"/>
          </p:nvPr>
        </p:nvSpPr>
        <p:spPr>
          <a:xfrm>
            <a:off x="2835166" y="3209360"/>
            <a:ext cx="2160000" cy="1440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56" name="Google Shape;56;p59"/>
          <p:cNvSpPr/>
          <p:nvPr/>
        </p:nvSpPr>
        <p:spPr>
          <a:xfrm>
            <a:off x="674951" y="3209360"/>
            <a:ext cx="2160000" cy="1440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59"/>
          <p:cNvSpPr txBox="1">
            <a:spLocks noGrp="1"/>
          </p:cNvSpPr>
          <p:nvPr>
            <p:ph type="body" idx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62626"/>
              </a:buClr>
              <a:buSzPts val="5400"/>
              <a:buFont typeface="Arial"/>
              <a:buNone/>
              <a:defRPr sz="5400" b="0" i="0" u="none" strike="noStrike" cap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Image slide layout">
  <p:cSld name="5_Image slide layou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60"/>
          <p:cNvSpPr>
            <a:spLocks noGrp="1"/>
          </p:cNvSpPr>
          <p:nvPr>
            <p:ph type="pic" idx="2"/>
          </p:nvPr>
        </p:nvSpPr>
        <p:spPr>
          <a:xfrm>
            <a:off x="6575840" y="1478364"/>
            <a:ext cx="2052000" cy="1440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60" name="Google Shape;60;p60"/>
          <p:cNvSpPr>
            <a:spLocks noGrp="1"/>
          </p:cNvSpPr>
          <p:nvPr>
            <p:ph type="pic" idx="3"/>
          </p:nvPr>
        </p:nvSpPr>
        <p:spPr>
          <a:xfrm>
            <a:off x="6575840" y="3120588"/>
            <a:ext cx="2052000" cy="1440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61" name="Google Shape;61;p60"/>
          <p:cNvSpPr>
            <a:spLocks noGrp="1"/>
          </p:cNvSpPr>
          <p:nvPr>
            <p:ph type="pic" idx="4"/>
          </p:nvPr>
        </p:nvSpPr>
        <p:spPr>
          <a:xfrm>
            <a:off x="6575840" y="4762777"/>
            <a:ext cx="2052000" cy="1440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62" name="Google Shape;62;p60"/>
          <p:cNvSpPr>
            <a:spLocks noGrp="1"/>
          </p:cNvSpPr>
          <p:nvPr>
            <p:ph type="pic" idx="5"/>
          </p:nvPr>
        </p:nvSpPr>
        <p:spPr>
          <a:xfrm>
            <a:off x="8716377" y="3120588"/>
            <a:ext cx="1692000" cy="1440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63" name="Google Shape;63;p60"/>
          <p:cNvSpPr>
            <a:spLocks noGrp="1"/>
          </p:cNvSpPr>
          <p:nvPr>
            <p:ph type="pic" idx="6"/>
          </p:nvPr>
        </p:nvSpPr>
        <p:spPr>
          <a:xfrm>
            <a:off x="10500000" y="3120588"/>
            <a:ext cx="1692000" cy="1440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64" name="Google Shape;64;p60"/>
          <p:cNvSpPr>
            <a:spLocks noGrp="1"/>
          </p:cNvSpPr>
          <p:nvPr>
            <p:ph type="pic" idx="7"/>
          </p:nvPr>
        </p:nvSpPr>
        <p:spPr>
          <a:xfrm>
            <a:off x="4429129" y="1766364"/>
            <a:ext cx="2052000" cy="1152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65" name="Google Shape;65;p60"/>
          <p:cNvSpPr/>
          <p:nvPr/>
        </p:nvSpPr>
        <p:spPr>
          <a:xfrm>
            <a:off x="0" y="3120588"/>
            <a:ext cx="6481129" cy="155069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60"/>
          <p:cNvSpPr/>
          <p:nvPr/>
        </p:nvSpPr>
        <p:spPr>
          <a:xfrm>
            <a:off x="4429129" y="2912764"/>
            <a:ext cx="2052000" cy="10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60"/>
          <p:cNvSpPr/>
          <p:nvPr/>
        </p:nvSpPr>
        <p:spPr>
          <a:xfrm>
            <a:off x="6575840" y="2912764"/>
            <a:ext cx="2052000" cy="10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60"/>
          <p:cNvSpPr/>
          <p:nvPr/>
        </p:nvSpPr>
        <p:spPr>
          <a:xfrm>
            <a:off x="6575840" y="4563278"/>
            <a:ext cx="2052000" cy="10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60"/>
          <p:cNvSpPr/>
          <p:nvPr/>
        </p:nvSpPr>
        <p:spPr>
          <a:xfrm>
            <a:off x="6575840" y="6202777"/>
            <a:ext cx="2052000" cy="10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60"/>
          <p:cNvSpPr/>
          <p:nvPr/>
        </p:nvSpPr>
        <p:spPr>
          <a:xfrm>
            <a:off x="8717920" y="4563278"/>
            <a:ext cx="1692000" cy="10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60"/>
          <p:cNvSpPr/>
          <p:nvPr/>
        </p:nvSpPr>
        <p:spPr>
          <a:xfrm>
            <a:off x="10500000" y="4563278"/>
            <a:ext cx="1692000" cy="10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60"/>
          <p:cNvSpPr txBox="1">
            <a:spLocks noGrp="1"/>
          </p:cNvSpPr>
          <p:nvPr>
            <p:ph type="body" idx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62626"/>
              </a:buClr>
              <a:buSzPts val="5400"/>
              <a:buFont typeface="Arial"/>
              <a:buNone/>
              <a:defRPr sz="5400" b="0" i="0" u="none" strike="noStrike" cap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Image slide layout">
  <p:cSld name="6_Image slide layou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61"/>
          <p:cNvSpPr>
            <a:spLocks noGrp="1"/>
          </p:cNvSpPr>
          <p:nvPr>
            <p:ph type="pic" idx="2"/>
          </p:nvPr>
        </p:nvSpPr>
        <p:spPr>
          <a:xfrm>
            <a:off x="0" y="1"/>
            <a:ext cx="12192000" cy="6561423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d slide layout">
  <p:cSld name="End slide layou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Break Slide layout">
  <p:cSld name="Section Break Slide layou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65"/>
          <p:cNvSpPr/>
          <p:nvPr/>
        </p:nvSpPr>
        <p:spPr>
          <a:xfrm>
            <a:off x="2" y="1"/>
            <a:ext cx="8641787" cy="6858000"/>
          </a:xfrm>
          <a:custGeom>
            <a:avLst/>
            <a:gdLst/>
            <a:ahLst/>
            <a:cxnLst/>
            <a:rect l="l" t="t" r="r" b="b"/>
            <a:pathLst>
              <a:path w="8641787" h="6858000" extrusionOk="0">
                <a:moveTo>
                  <a:pt x="0" y="0"/>
                </a:moveTo>
                <a:lnTo>
                  <a:pt x="6012887" y="0"/>
                </a:lnTo>
                <a:lnTo>
                  <a:pt x="8641787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1">
              <a:alpha val="4196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65"/>
          <p:cNvSpPr/>
          <p:nvPr/>
        </p:nvSpPr>
        <p:spPr>
          <a:xfrm rot="-1269289">
            <a:off x="7416424" y="-293215"/>
            <a:ext cx="234813" cy="7444430"/>
          </a:xfrm>
          <a:custGeom>
            <a:avLst/>
            <a:gdLst/>
            <a:ahLst/>
            <a:cxnLst/>
            <a:rect l="l" t="t" r="r" b="b"/>
            <a:pathLst>
              <a:path w="234813" h="7444430" extrusionOk="0">
                <a:moveTo>
                  <a:pt x="0" y="0"/>
                </a:moveTo>
                <a:lnTo>
                  <a:pt x="234813" y="90866"/>
                </a:lnTo>
                <a:lnTo>
                  <a:pt x="234813" y="7444430"/>
                </a:lnTo>
                <a:lnTo>
                  <a:pt x="0" y="7353565"/>
                </a:lnTo>
                <a:close/>
              </a:path>
            </a:pathLst>
          </a:custGeom>
          <a:solidFill>
            <a:schemeClr val="lt1">
              <a:alpha val="2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65"/>
          <p:cNvSpPr/>
          <p:nvPr/>
        </p:nvSpPr>
        <p:spPr>
          <a:xfrm rot="-1269289">
            <a:off x="8020265" y="-134683"/>
            <a:ext cx="234813" cy="2739613"/>
          </a:xfrm>
          <a:custGeom>
            <a:avLst/>
            <a:gdLst/>
            <a:ahLst/>
            <a:cxnLst/>
            <a:rect l="l" t="t" r="r" b="b"/>
            <a:pathLst>
              <a:path w="234813" h="2739613" extrusionOk="0">
                <a:moveTo>
                  <a:pt x="0" y="0"/>
                </a:moveTo>
                <a:lnTo>
                  <a:pt x="234813" y="90866"/>
                </a:lnTo>
                <a:lnTo>
                  <a:pt x="234813" y="2739613"/>
                </a:lnTo>
                <a:lnTo>
                  <a:pt x="0" y="2648748"/>
                </a:lnTo>
                <a:close/>
              </a:path>
            </a:pathLst>
          </a:custGeom>
          <a:solidFill>
            <a:schemeClr val="lt1">
              <a:alpha val="2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65"/>
          <p:cNvSpPr/>
          <p:nvPr/>
        </p:nvSpPr>
        <p:spPr>
          <a:xfrm rot="9530711">
            <a:off x="10369955" y="4253071"/>
            <a:ext cx="234813" cy="2739613"/>
          </a:xfrm>
          <a:custGeom>
            <a:avLst/>
            <a:gdLst/>
            <a:ahLst/>
            <a:cxnLst/>
            <a:rect l="l" t="t" r="r" b="b"/>
            <a:pathLst>
              <a:path w="234813" h="2739613" extrusionOk="0">
                <a:moveTo>
                  <a:pt x="0" y="0"/>
                </a:moveTo>
                <a:lnTo>
                  <a:pt x="234813" y="90866"/>
                </a:lnTo>
                <a:lnTo>
                  <a:pt x="234813" y="2739613"/>
                </a:lnTo>
                <a:lnTo>
                  <a:pt x="0" y="2648748"/>
                </a:lnTo>
                <a:close/>
              </a:path>
            </a:pathLst>
          </a:custGeom>
          <a:solidFill>
            <a:schemeClr val="lt1">
              <a:alpha val="2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6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5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7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app.powerbi.com/groups/me/reports/7d1fa921-c491-4266-87e5-1938d5ff3690/e9cfe528a28cea903759?experience=power-bi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>
          <a:extLst>
            <a:ext uri="{FF2B5EF4-FFF2-40B4-BE49-F238E27FC236}">
              <a16:creationId xmlns:a16="http://schemas.microsoft.com/office/drawing/2014/main" id="{2EC56346-13F9-A449-2B3E-D2910BF357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9">
            <a:extLst>
              <a:ext uri="{FF2B5EF4-FFF2-40B4-BE49-F238E27FC236}">
                <a16:creationId xmlns:a16="http://schemas.microsoft.com/office/drawing/2014/main" id="{36192284-0EF6-E2EA-BB90-FDE4A1B4AEC6}"/>
              </a:ext>
            </a:extLst>
          </p:cNvPr>
          <p:cNvSpPr/>
          <p:nvPr/>
        </p:nvSpPr>
        <p:spPr>
          <a:xfrm>
            <a:off x="493387" y="505485"/>
            <a:ext cx="4240538" cy="27237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endParaRPr lang="pt-PT" b="1" dirty="0"/>
          </a:p>
          <a:p>
            <a:pPr marL="285750" lvl="5" indent="-285750">
              <a:buFont typeface="Wingdings" panose="05000000000000000000" pitchFamily="2" charset="2"/>
              <a:buChar char="v"/>
            </a:pPr>
            <a:endParaRPr lang="pt-PT" dirty="0"/>
          </a:p>
          <a:p>
            <a:pPr marL="285750" lvl="1" indent="-104775">
              <a:buFont typeface="Wingdings" panose="05000000000000000000" pitchFamily="2" charset="2"/>
              <a:buChar char="§"/>
            </a:pPr>
            <a:endParaRPr lang="pt-PT" dirty="0"/>
          </a:p>
          <a:p>
            <a:pPr marL="180975" lvl="1"/>
            <a:endParaRPr lang="pt-PT" dirty="0"/>
          </a:p>
          <a:p>
            <a:pPr marL="180975" lvl="1"/>
            <a:endParaRPr lang="pt-PT" dirty="0"/>
          </a:p>
          <a:p>
            <a:pPr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</a:pPr>
            <a:endParaRPr sz="3200"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3200" b="1" dirty="0">
                <a:solidFill>
                  <a:srgbClr val="1D4869"/>
                </a:solidFill>
                <a:latin typeface="Arial"/>
                <a:ea typeface="Arial"/>
                <a:cs typeface="Arial"/>
                <a:sym typeface="Arial"/>
              </a:rPr>
              <a:t>      </a:t>
            </a:r>
            <a:endParaRPr sz="3200" b="1" dirty="0">
              <a:solidFill>
                <a:srgbClr val="1D48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8F7D273B-B97C-16DD-AEF8-6824598770B5}"/>
              </a:ext>
            </a:extLst>
          </p:cNvPr>
          <p:cNvSpPr txBox="1"/>
          <p:nvPr/>
        </p:nvSpPr>
        <p:spPr>
          <a:xfrm>
            <a:off x="134685" y="740004"/>
            <a:ext cx="6247938" cy="29495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pt-PT" sz="1800" dirty="0"/>
              <a:t>Business Context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pt-PT" sz="1800" dirty="0"/>
              <a:t>Business Questions </a:t>
            </a:r>
          </a:p>
          <a:p>
            <a:pPr>
              <a:lnSpc>
                <a:spcPct val="150000"/>
              </a:lnSpc>
            </a:pPr>
            <a:r>
              <a:rPr lang="pt-PT" sz="1800" dirty="0"/>
              <a:t>3.  Data Preparation and KPI (Metrics)</a:t>
            </a:r>
          </a:p>
          <a:p>
            <a:pPr>
              <a:lnSpc>
                <a:spcPct val="150000"/>
              </a:lnSpc>
            </a:pPr>
            <a:r>
              <a:rPr lang="pt-PT" sz="1800" dirty="0"/>
              <a:t>4.  Reporting/Dashboard Design</a:t>
            </a:r>
          </a:p>
          <a:p>
            <a:pPr>
              <a:lnSpc>
                <a:spcPct val="150000"/>
              </a:lnSpc>
            </a:pPr>
            <a:r>
              <a:rPr lang="pt-PT" sz="1800" dirty="0"/>
              <a:t>5.  Findings and Recomendations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pt-PT" sz="1800" dirty="0"/>
          </a:p>
          <a:p>
            <a:pPr>
              <a:lnSpc>
                <a:spcPct val="150000"/>
              </a:lnSpc>
            </a:pPr>
            <a:endParaRPr lang="pt-PT" sz="1800" dirty="0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ECFD0956-69B6-3858-7CB1-4926A6210D9A}"/>
              </a:ext>
            </a:extLst>
          </p:cNvPr>
          <p:cNvSpPr txBox="1"/>
          <p:nvPr/>
        </p:nvSpPr>
        <p:spPr>
          <a:xfrm>
            <a:off x="2883056" y="151542"/>
            <a:ext cx="605029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2000" b="1" dirty="0">
                <a:solidFill>
                  <a:schemeClr val="bg2"/>
                </a:solidFill>
              </a:rPr>
              <a:t>Linde Interview Agenda – Faustino Quindala</a:t>
            </a:r>
          </a:p>
          <a:p>
            <a:endParaRPr lang="pt-PT" sz="2000" dirty="0">
              <a:solidFill>
                <a:schemeClr val="bg2"/>
              </a:solidFill>
            </a:endParaRPr>
          </a:p>
        </p:txBody>
      </p:sp>
      <p:pic>
        <p:nvPicPr>
          <p:cNvPr id="16" name="Google Shape;208;p8">
            <a:extLst>
              <a:ext uri="{FF2B5EF4-FFF2-40B4-BE49-F238E27FC236}">
                <a16:creationId xmlns:a16="http://schemas.microsoft.com/office/drawing/2014/main" id="{E389CD9B-E484-96F6-04AD-5F74C98144F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79740" y="5593976"/>
            <a:ext cx="1469373" cy="92112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CaixaDeTexto 7">
            <a:extLst>
              <a:ext uri="{FF2B5EF4-FFF2-40B4-BE49-F238E27FC236}">
                <a16:creationId xmlns:a16="http://schemas.microsoft.com/office/drawing/2014/main" id="{1BF0C30F-1BF8-3A04-81F1-15C5DE08A52E}"/>
              </a:ext>
            </a:extLst>
          </p:cNvPr>
          <p:cNvSpPr txBox="1"/>
          <p:nvPr/>
        </p:nvSpPr>
        <p:spPr>
          <a:xfrm>
            <a:off x="134685" y="3182039"/>
            <a:ext cx="5665480" cy="33650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PT" sz="1800" b="1" dirty="0"/>
              <a:t>2. Business Questions </a:t>
            </a:r>
          </a:p>
          <a:p>
            <a:pPr marL="3429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pt-PT" sz="1800" dirty="0"/>
              <a:t>How is the business performing over time?</a:t>
            </a:r>
          </a:p>
          <a:p>
            <a:pPr marL="3429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pt-PT" sz="1800" dirty="0"/>
              <a:t>Which customers generate the most revenue?</a:t>
            </a:r>
          </a:p>
          <a:p>
            <a:pPr marL="3429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pt-PT" sz="1800" dirty="0"/>
              <a:t>Which industruies are the stronguest?</a:t>
            </a:r>
          </a:p>
          <a:p>
            <a:pPr marL="3429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pt-PT" sz="1800" dirty="0"/>
              <a:t>Which products and segments drive the business?</a:t>
            </a:r>
          </a:p>
          <a:p>
            <a:pPr marL="3429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pt-PT" sz="1800" dirty="0"/>
              <a:t>Which order channel perform best?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pt-PT" sz="1800" dirty="0"/>
          </a:p>
          <a:p>
            <a:pPr>
              <a:lnSpc>
                <a:spcPct val="150000"/>
              </a:lnSpc>
            </a:pPr>
            <a:endParaRPr lang="pt-PT" sz="1800" dirty="0"/>
          </a:p>
        </p:txBody>
      </p:sp>
      <p:sp>
        <p:nvSpPr>
          <p:cNvPr id="3" name="CaixaDeTexto 7">
            <a:extLst>
              <a:ext uri="{FF2B5EF4-FFF2-40B4-BE49-F238E27FC236}">
                <a16:creationId xmlns:a16="http://schemas.microsoft.com/office/drawing/2014/main" id="{64045CFB-E610-CDC6-6274-D31BA936C5A6}"/>
              </a:ext>
            </a:extLst>
          </p:cNvPr>
          <p:cNvSpPr txBox="1"/>
          <p:nvPr/>
        </p:nvSpPr>
        <p:spPr>
          <a:xfrm>
            <a:off x="5908201" y="696669"/>
            <a:ext cx="6247938" cy="21185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PT" sz="1800" b="1" dirty="0"/>
              <a:t>3. Data Preparation and KPI (Metrics)</a:t>
            </a:r>
          </a:p>
          <a:p>
            <a:pPr marL="342900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pt-PT" sz="1800" dirty="0"/>
              <a:t>#Revenue; #Orders; #Customers, #Quantity; #Avg order Value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pt-PT" sz="1800" dirty="0"/>
          </a:p>
          <a:p>
            <a:pPr>
              <a:lnSpc>
                <a:spcPct val="150000"/>
              </a:lnSpc>
            </a:pPr>
            <a:endParaRPr lang="pt-PT" sz="1800" dirty="0"/>
          </a:p>
        </p:txBody>
      </p:sp>
      <p:sp>
        <p:nvSpPr>
          <p:cNvPr id="5" name="CaixaDeTexto 7">
            <a:extLst>
              <a:ext uri="{FF2B5EF4-FFF2-40B4-BE49-F238E27FC236}">
                <a16:creationId xmlns:a16="http://schemas.microsoft.com/office/drawing/2014/main" id="{ED82C0AB-DACF-2967-5267-FFC3A9E6F8B0}"/>
              </a:ext>
            </a:extLst>
          </p:cNvPr>
          <p:cNvSpPr txBox="1"/>
          <p:nvPr/>
        </p:nvSpPr>
        <p:spPr>
          <a:xfrm>
            <a:off x="6007025" y="2154653"/>
            <a:ext cx="6247938" cy="17030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PT" sz="1800" b="1" dirty="0"/>
              <a:t>4. Reporting/Dashboard Design</a:t>
            </a:r>
          </a:p>
          <a:p>
            <a:pPr marL="342900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pt-PT" sz="1800" dirty="0">
                <a:solidFill>
                  <a:srgbClr val="0070C0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Power BI Report Link</a:t>
            </a:r>
            <a:endParaRPr lang="pt-PT" sz="1800" dirty="0">
              <a:solidFill>
                <a:srgbClr val="0070C0"/>
              </a:solidFill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pt-PT" sz="1800" dirty="0"/>
          </a:p>
          <a:p>
            <a:pPr>
              <a:lnSpc>
                <a:spcPct val="150000"/>
              </a:lnSpc>
            </a:pPr>
            <a:endParaRPr lang="pt-PT" sz="1800" dirty="0"/>
          </a:p>
        </p:txBody>
      </p:sp>
      <p:sp>
        <p:nvSpPr>
          <p:cNvPr id="4" name="CaixaDeTexto 7">
            <a:extLst>
              <a:ext uri="{FF2B5EF4-FFF2-40B4-BE49-F238E27FC236}">
                <a16:creationId xmlns:a16="http://schemas.microsoft.com/office/drawing/2014/main" id="{C31C0D2D-597F-24BF-5C44-3E530B9D195D}"/>
              </a:ext>
            </a:extLst>
          </p:cNvPr>
          <p:cNvSpPr txBox="1"/>
          <p:nvPr/>
        </p:nvSpPr>
        <p:spPr>
          <a:xfrm>
            <a:off x="6096000" y="3249169"/>
            <a:ext cx="6247938" cy="29495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PT" sz="1800" b="1" dirty="0"/>
              <a:t>5. Findings and Recomendations</a:t>
            </a:r>
          </a:p>
          <a:p>
            <a:pPr marL="342900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pt-PT" sz="1800" dirty="0">
                <a:solidFill>
                  <a:schemeClr val="tx1"/>
                </a:solidFill>
              </a:rPr>
              <a:t>Continue investing on digital channel</a:t>
            </a:r>
          </a:p>
          <a:p>
            <a:pPr marL="342900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pt-PT" sz="1800" dirty="0">
                <a:solidFill>
                  <a:schemeClr val="tx1"/>
                </a:solidFill>
              </a:rPr>
              <a:t>Analyze declining customer base and revenue</a:t>
            </a:r>
          </a:p>
          <a:p>
            <a:pPr marL="342900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pt-PT" sz="1800" dirty="0">
                <a:solidFill>
                  <a:schemeClr val="tx1"/>
                </a:solidFill>
              </a:rPr>
              <a:t>Loyalty programs and segmentations</a:t>
            </a:r>
          </a:p>
          <a:p>
            <a:pPr marL="342900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pt-PT" sz="1800" dirty="0">
                <a:solidFill>
                  <a:schemeClr val="tx1"/>
                </a:solidFill>
              </a:rPr>
              <a:t>Focus on constrution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pt-PT" sz="1800" dirty="0"/>
          </a:p>
          <a:p>
            <a:pPr>
              <a:lnSpc>
                <a:spcPct val="150000"/>
              </a:lnSpc>
            </a:pPr>
            <a:endParaRPr lang="pt-PT" sz="1800" dirty="0"/>
          </a:p>
        </p:txBody>
      </p:sp>
    </p:spTree>
    <p:extLst>
      <p:ext uri="{BB962C8B-B14F-4D97-AF65-F5344CB8AC3E}">
        <p14:creationId xmlns:p14="http://schemas.microsoft.com/office/powerpoint/2010/main" val="3603320117"/>
      </p:ext>
    </p:extLst>
  </p:cSld>
  <p:clrMapOvr>
    <a:masterClrMapping/>
  </p:clrMapOvr>
</p:sld>
</file>

<file path=ppt/theme/theme1.xml><?xml version="1.0" encoding="utf-8"?>
<a:theme xmlns:a="http://schemas.openxmlformats.org/drawingml/2006/main" name="Contents Slide Master">
  <a:themeElements>
    <a:clrScheme name="mobil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282BE"/>
      </a:accent1>
      <a:accent2>
        <a:srgbClr val="28608C"/>
      </a:accent2>
      <a:accent3>
        <a:srgbClr val="262626"/>
      </a:accent3>
      <a:accent4>
        <a:srgbClr val="3282BE"/>
      </a:accent4>
      <a:accent5>
        <a:srgbClr val="28608C"/>
      </a:accent5>
      <a:accent6>
        <a:srgbClr val="262626"/>
      </a:accent6>
      <a:hlink>
        <a:srgbClr val="FFFFFF"/>
      </a:hlink>
      <a:folHlink>
        <a:srgbClr val="FFFF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over and End Slide Master">
  <a:themeElements>
    <a:clrScheme name="mobil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282BE"/>
      </a:accent1>
      <a:accent2>
        <a:srgbClr val="28608C"/>
      </a:accent2>
      <a:accent3>
        <a:srgbClr val="262626"/>
      </a:accent3>
      <a:accent4>
        <a:srgbClr val="3282BE"/>
      </a:accent4>
      <a:accent5>
        <a:srgbClr val="28608C"/>
      </a:accent5>
      <a:accent6>
        <a:srgbClr val="262626"/>
      </a:accent6>
      <a:hlink>
        <a:srgbClr val="FFFFFF"/>
      </a:hlink>
      <a:folHlink>
        <a:srgbClr val="FFFF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Section Break Slide Master">
  <a:themeElements>
    <a:clrScheme name="ALLPPT-SOCIAL MEDIA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282BE"/>
      </a:accent1>
      <a:accent2>
        <a:srgbClr val="28608C"/>
      </a:accent2>
      <a:accent3>
        <a:srgbClr val="262626"/>
      </a:accent3>
      <a:accent4>
        <a:srgbClr val="3282BE"/>
      </a:accent4>
      <a:accent5>
        <a:srgbClr val="28608C"/>
      </a:accent5>
      <a:accent6>
        <a:srgbClr val="262626"/>
      </a:accent6>
      <a:hlink>
        <a:srgbClr val="FFFFFF"/>
      </a:hlink>
      <a:folHlink>
        <a:srgbClr val="FFFF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529</TotalTime>
  <Words>159</Words>
  <Application>Microsoft Office PowerPoint</Application>
  <PresentationFormat>Panorámica</PresentationFormat>
  <Paragraphs>30</Paragraphs>
  <Slides>1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3</vt:i4>
      </vt:variant>
      <vt:variant>
        <vt:lpstr>Títulos de diapositiva</vt:lpstr>
      </vt:variant>
      <vt:variant>
        <vt:i4>1</vt:i4>
      </vt:variant>
    </vt:vector>
  </HeadingPairs>
  <TitlesOfParts>
    <vt:vector size="7" baseType="lpstr">
      <vt:lpstr>Wingdings</vt:lpstr>
      <vt:lpstr>Calibri</vt:lpstr>
      <vt:lpstr>Arial</vt:lpstr>
      <vt:lpstr>Contents Slide Master</vt:lpstr>
      <vt:lpstr>Cover and End Slide Master</vt:lpstr>
      <vt:lpstr>Section Break Slide Master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Allppt.com;Googleslidesppt.com</dc:creator>
  <cp:lastModifiedBy>Faustino Francisco Quindala</cp:lastModifiedBy>
  <cp:revision>6</cp:revision>
  <dcterms:created xsi:type="dcterms:W3CDTF">2018-04-24T17:14:44Z</dcterms:created>
  <dcterms:modified xsi:type="dcterms:W3CDTF">2026-07-28T22:12:25Z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e60328b2-cbbd-405e-b01b-32c4759a0ed0_Enabled">
    <vt:lpwstr>true</vt:lpwstr>
  </property>
  <property fmtid="{D5CDD505-2E9C-101B-9397-08002B2CF9AE}" pid="3" name="MSIP_Label_e60328b2-cbbd-405e-b01b-32c4759a0ed0_SetDate">
    <vt:lpwstr>2026-06-14T09:44:37Z</vt:lpwstr>
  </property>
  <property fmtid="{D5CDD505-2E9C-101B-9397-08002B2CF9AE}" pid="4" name="MSIP_Label_e60328b2-cbbd-405e-b01b-32c4759a0ed0_Method">
    <vt:lpwstr>Standard</vt:lpwstr>
  </property>
  <property fmtid="{D5CDD505-2E9C-101B-9397-08002B2CF9AE}" pid="5" name="MSIP_Label_e60328b2-cbbd-405e-b01b-32c4759a0ed0_Name">
    <vt:lpwstr>Public Label</vt:lpwstr>
  </property>
  <property fmtid="{D5CDD505-2E9C-101B-9397-08002B2CF9AE}" pid="6" name="MSIP_Label_e60328b2-cbbd-405e-b01b-32c4759a0ed0_SiteId">
    <vt:lpwstr>22c84608-f01d-46c5-8024-63cc962e5f51</vt:lpwstr>
  </property>
  <property fmtid="{D5CDD505-2E9C-101B-9397-08002B2CF9AE}" pid="7" name="MSIP_Label_e60328b2-cbbd-405e-b01b-32c4759a0ed0_ActionId">
    <vt:lpwstr>f5187b95-56a8-4c9c-837d-49d23a2609eb</vt:lpwstr>
  </property>
  <property fmtid="{D5CDD505-2E9C-101B-9397-08002B2CF9AE}" pid="8" name="MSIP_Label_e60328b2-cbbd-405e-b01b-32c4759a0ed0_ContentBits">
    <vt:lpwstr>0</vt:lpwstr>
  </property>
  <property fmtid="{D5CDD505-2E9C-101B-9397-08002B2CF9AE}" pid="9" name="MSIP_Label_e60328b2-cbbd-405e-b01b-32c4759a0ed0_Tag">
    <vt:lpwstr>10, 3, 0, 1</vt:lpwstr>
  </property>
</Properties>
</file>